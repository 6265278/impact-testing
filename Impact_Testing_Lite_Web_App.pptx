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10"/>
  </p:normalViewPr>
  <p:slideViewPr>
    <p:cSldViewPr snapToGrid="0" snapToObjects="1">
      <p:cViewPr varScale="1">
        <p:scale>
          <a:sx n="45" d="100"/>
          <a:sy n="45" d="100"/>
        </p:scale>
        <p:origin x="67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2431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AC6"/>
          </a:solidFill>
          <a:ln w="12700">
            <a:solidFill>
              <a:srgbClr val="006AC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TESTING • LITE WEB APPLICATION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4739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6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6583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Testing,</a:t>
            </a:r>
            <a:endParaRPr lang="en-US" sz="2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29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without the manual overhead</a:t>
            </a:r>
            <a:endParaRPr lang="en-US" sz="2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157276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8738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lightweight web application that turns multi-level impact analysis into a repeatable, shareable workflow.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726680" y="502920"/>
            <a:ext cx="3886200" cy="1874520"/>
          </a:xfrm>
          <a:prstGeom prst="roundRect">
            <a:avLst>
              <a:gd name="adj" fmla="val 7805"/>
            </a:avLst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28432" y="7589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A7C0D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TURNAROUND TIME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019288" y="1115568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2–3 hrs</a:t>
            </a:r>
            <a:endParaRPr lang="en-US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28048" y="1124712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0B8F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76688" y="1115568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0B8F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 1 hr</a:t>
            </a:r>
            <a:endParaRPr lang="en-US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028432" y="176479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B8C8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Typical impact-testing preparation time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6928" y="2331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6A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THIS MATTERS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2761488"/>
            <a:ext cx="2670048" cy="1152144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953512"/>
            <a:ext cx="310896" cy="310896"/>
          </a:xfrm>
          <a:prstGeom prst="ellipse">
            <a:avLst/>
          </a:prstGeom>
          <a:solidFill>
            <a:srgbClr val="006AC6"/>
          </a:solidFill>
          <a:ln w="12700">
            <a:solidFill>
              <a:srgbClr val="006A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↑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61288" y="28895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TESTING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61288" y="319125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8738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volume of impact requests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419856" y="2761488"/>
            <a:ext cx="2670048" cy="1152144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84448" y="2953512"/>
            <a:ext cx="310896" cy="310896"/>
          </a:xfrm>
          <a:prstGeom prst="ellipse">
            <a:avLst/>
          </a:prstGeom>
          <a:solidFill>
            <a:srgbClr val="E83E5A"/>
          </a:solidFill>
          <a:ln w="12700">
            <a:solidFill>
              <a:srgbClr val="E83E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84448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⏱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014216" y="28895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TIGHT DEADLINES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014216" y="319125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8738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Less time to prepare &amp; validate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72784" y="2761488"/>
            <a:ext cx="2670048" cy="1152144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37376" y="2953512"/>
            <a:ext cx="310896" cy="310896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37376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867144" y="28895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NOISY ENVIRONMENTS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67144" y="319125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8738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isolation of true impact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125712" y="2761488"/>
            <a:ext cx="2670048" cy="1152144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90304" y="2953512"/>
            <a:ext cx="310896" cy="310896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90304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↗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720072" y="28895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MULTI-LEVEL NEED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720072" y="319125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8738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required beyond booked level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66928" y="42245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6A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THE LITE WEB APP ADDS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66928" y="4599432"/>
            <a:ext cx="3584448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4736592"/>
            <a:ext cx="384048" cy="310896"/>
          </a:xfrm>
          <a:prstGeom prst="roundRect">
            <a:avLst>
              <a:gd name="adj" fmla="val 47059"/>
            </a:avLst>
          </a:prstGeom>
          <a:solidFill>
            <a:srgbClr val="E9F4FC"/>
          </a:solidFill>
          <a:ln w="12700">
            <a:solidFill>
              <a:srgbClr val="E9F4FC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4745736"/>
            <a:ext cx="2377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6A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252728" y="470001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Multi-level impact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252728" y="5029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8738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 sixth case + all key metrics across the hierarchy in one run.</a:t>
            </a:r>
            <a:endParaRPr lang="en-US" sz="98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334256" y="4599432"/>
            <a:ext cx="3584448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98848" y="4736592"/>
            <a:ext cx="384048" cy="310896"/>
          </a:xfrm>
          <a:prstGeom prst="roundRect">
            <a:avLst>
              <a:gd name="adj" fmla="val 47059"/>
            </a:avLst>
          </a:prstGeom>
          <a:solidFill>
            <a:srgbClr val="E9F4FC"/>
          </a:solidFill>
          <a:ln w="12700">
            <a:solidFill>
              <a:srgbClr val="E9F4FC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4745736"/>
            <a:ext cx="2377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6A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02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020056" y="470001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Flexible input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020056" y="5029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8738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ATOM or spreadsheet data, with multiple upload approaches.</a:t>
            </a:r>
            <a:endParaRPr lang="en-US" sz="98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101584" y="4599432"/>
            <a:ext cx="3584448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66176" y="4736592"/>
            <a:ext cx="384048" cy="310896"/>
          </a:xfrm>
          <a:prstGeom prst="roundRect">
            <a:avLst>
              <a:gd name="adj" fmla="val 47059"/>
            </a:avLst>
          </a:prstGeom>
          <a:solidFill>
            <a:srgbClr val="E9F4FC"/>
          </a:solidFill>
          <a:ln w="12700">
            <a:solidFill>
              <a:srgbClr val="E9F4FC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39328" y="4745736"/>
            <a:ext cx="2377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6A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03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787384" y="470001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Shareable output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787384" y="5029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8738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can be shared across teams for faster validation.</a:t>
            </a:r>
            <a:endParaRPr lang="en-US" sz="98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66928" y="60167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Result: faster testing, fewer manual steps, easier handoff.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Before: impact testing was a manual chain</a:t>
            </a:r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8738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work was manageable—but every step depended on manual data gathering, aggregation and cross-team coordination.</a:t>
            </a:r>
            <a:endParaRPr lang="en-US" sz="13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2606040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329184" cy="329184"/>
          </a:xfrm>
          <a:prstGeom prst="ellipse">
            <a:avLst/>
          </a:prstGeom>
          <a:solidFill>
            <a:srgbClr val="006AC6"/>
          </a:solidFill>
          <a:ln w="12700">
            <a:solidFill>
              <a:srgbClr val="006A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9222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8720" y="1719072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 Team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88720" y="201168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8738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impacted book / discount curve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172968" y="2139696"/>
            <a:ext cx="228600" cy="0"/>
          </a:xfrm>
          <a:prstGeom prst="line">
            <a:avLst/>
          </a:prstGeom>
          <a:noFill/>
          <a:ln w="25400">
            <a:solidFill>
              <a:srgbClr val="E7ECF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419856" y="1600200"/>
            <a:ext cx="2606040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84448" y="1783080"/>
            <a:ext cx="329184" cy="329184"/>
          </a:xfrm>
          <a:prstGeom prst="ellipse">
            <a:avLst/>
          </a:prstGeom>
          <a:solidFill>
            <a:srgbClr val="1D8FE1"/>
          </a:solidFill>
          <a:ln w="12700">
            <a:solidFill>
              <a:srgbClr val="1D8F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4448" y="179222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02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041648" y="1719072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EMR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041648" y="201168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8738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Retrieve data + calculate upper-level impact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25896" y="2139696"/>
            <a:ext cx="228600" cy="0"/>
          </a:xfrm>
          <a:prstGeom prst="line">
            <a:avLst/>
          </a:prstGeom>
          <a:noFill/>
          <a:ln w="25400">
            <a:solidFill>
              <a:srgbClr val="E7ECF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272784" y="1600200"/>
            <a:ext cx="2606040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7376" y="1783080"/>
            <a:ext cx="329184" cy="329184"/>
          </a:xfrm>
          <a:prstGeom prst="ellipse">
            <a:avLst/>
          </a:prstGeom>
          <a:solidFill>
            <a:srgbClr val="E83E5A"/>
          </a:solidFill>
          <a:ln w="12700">
            <a:solidFill>
              <a:srgbClr val="E83E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179222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03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894576" y="1719072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LMR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894576" y="201168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8738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 whether the change is expected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878824" y="2139696"/>
            <a:ext cx="228600" cy="0"/>
          </a:xfrm>
          <a:prstGeom prst="line">
            <a:avLst/>
          </a:prstGeom>
          <a:noFill/>
          <a:ln w="25400">
            <a:solidFill>
              <a:srgbClr val="E7ECF2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125712" y="1600200"/>
            <a:ext cx="2606040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90304" y="1783080"/>
            <a:ext cx="329184" cy="329184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90304" y="179222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04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747504" y="1719072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MWG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747504" y="201168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8738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 / discuss when needed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66928" y="3044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6A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THE FRICTION CAME FROM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66928" y="3456432"/>
            <a:ext cx="3584448" cy="1572768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A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225296" y="36393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 hierarchy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225296" y="4014216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8738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 to identify all impacted desks and upper levels.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334256" y="3456432"/>
            <a:ext cx="3584448" cy="1572768"/>
          </a:xfrm>
          <a:prstGeom prst="roundRect">
            <a:avLst>
              <a:gd name="adj" fmla="val 9302"/>
            </a:avLst>
          </a:prstGeom>
          <a:solidFill>
            <a:srgbClr val="FFF9EF"/>
          </a:solidFill>
          <a:ln w="12700">
            <a:solidFill>
              <a:srgbClr val="F2D3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17136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B9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992624" y="36393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Noisy environment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992624" y="4014216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8738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May require position-level pulls, manual aggregation and calculation.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101584" y="3456432"/>
            <a:ext cx="3584448" cy="1572768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84464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3E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759952" y="36393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Cross-team explanation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759952" y="4014216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8738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must be translated into a story that LMR can validate.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66928" y="5321808"/>
            <a:ext cx="10908792" cy="694944"/>
          </a:xfrm>
          <a:prstGeom prst="roundRect">
            <a:avLst>
              <a:gd name="adj" fmla="val 21053"/>
            </a:avLst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1248" y="5504688"/>
            <a:ext cx="10287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bottleneck was not the calculation itself — it was the preparation, aggregation and coordination around it.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Now: a simple decision flow + one reusable tool</a:t>
            </a:r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8738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process starts by checking the environment, then chooses the lightest path needed to get a reliable result.</a:t>
            </a:r>
            <a:endParaRPr lang="en-US" sz="13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2194560" cy="1005840"/>
          </a:xfrm>
          <a:prstGeom prst="roundRect">
            <a:avLst>
              <a:gd name="adj" fmla="val 14545"/>
            </a:avLst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7830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FD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3000" y="173736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 environment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202996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it clean?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61488" y="2103120"/>
            <a:ext cx="484632" cy="0"/>
          </a:xfrm>
          <a:prstGeom prst="line">
            <a:avLst/>
          </a:prstGeom>
          <a:noFill/>
          <a:ln w="25400">
            <a:solidFill>
              <a:srgbClr val="E7ECF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246120" y="2103120"/>
            <a:ext cx="0" cy="640080"/>
          </a:xfrm>
          <a:prstGeom prst="line">
            <a:avLst/>
          </a:prstGeom>
          <a:noFill/>
          <a:ln w="25400">
            <a:solidFill>
              <a:srgbClr val="E7ECF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246120" y="2743200"/>
            <a:ext cx="411480" cy="0"/>
          </a:xfrm>
          <a:prstGeom prst="line">
            <a:avLst/>
          </a:prstGeom>
          <a:noFill/>
          <a:ln w="25400">
            <a:solidFill>
              <a:srgbClr val="E7ECF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246120" y="2103120"/>
            <a:ext cx="0" cy="0"/>
          </a:xfrm>
          <a:prstGeom prst="line">
            <a:avLst/>
          </a:prstGeom>
          <a:noFill/>
          <a:ln w="25400">
            <a:solidFill>
              <a:srgbClr val="E7ECF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246120" y="1339594"/>
            <a:ext cx="235324" cy="4574"/>
          </a:xfrm>
          <a:prstGeom prst="line">
            <a:avLst/>
          </a:prstGeom>
          <a:noFill/>
          <a:ln w="25400">
            <a:solidFill>
              <a:srgbClr val="E7ECF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3401568" y="1197864"/>
            <a:ext cx="658368" cy="310896"/>
          </a:xfrm>
          <a:prstGeom prst="roundRect">
            <a:avLst>
              <a:gd name="adj" fmla="val 47059"/>
            </a:avLst>
          </a:prstGeom>
          <a:solidFill>
            <a:srgbClr val="EAF8F2"/>
          </a:solidFill>
          <a:ln w="12700">
            <a:solidFill>
              <a:srgbClr val="EAF8F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207008"/>
            <a:ext cx="512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9F6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408292" y="2557900"/>
            <a:ext cx="658368" cy="310896"/>
          </a:xfrm>
          <a:prstGeom prst="roundRect">
            <a:avLst>
              <a:gd name="adj" fmla="val 47059"/>
            </a:avLst>
          </a:prstGeom>
          <a:solidFill>
            <a:srgbClr val="FFF0F3"/>
          </a:solidFill>
          <a:ln w="12700">
            <a:solidFill>
              <a:srgbClr val="FFF0F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81444" y="2567044"/>
            <a:ext cx="512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3E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NOISY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57600" y="1482403"/>
            <a:ext cx="2423160" cy="932688"/>
          </a:xfrm>
          <a:prstGeom prst="roundRect">
            <a:avLst>
              <a:gd name="adj" fmla="val 15686"/>
            </a:avLst>
          </a:prstGeom>
          <a:solidFill>
            <a:srgbClr val="EAF8F2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08078" y="1701859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standard template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108078" y="1985323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E9F6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Fast, repeatable, minimal touch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664324" y="2859658"/>
            <a:ext cx="2423160" cy="1389888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83E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83780" y="3124834"/>
            <a:ext cx="329184" cy="329184"/>
          </a:xfrm>
          <a:prstGeom prst="ellipse">
            <a:avLst/>
          </a:prstGeom>
          <a:solidFill>
            <a:srgbClr val="E83E5A"/>
          </a:solidFill>
          <a:ln w="12700">
            <a:solidFill>
              <a:srgbClr val="E83E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3780" y="312483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⚡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368412" y="305168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Lite Web App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368412" y="336257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8738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ATOM / spreadsheet input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368412" y="363689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8738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Flexible upload options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089904" y="3516674"/>
            <a:ext cx="493776" cy="0"/>
          </a:xfrm>
          <a:prstGeom prst="line">
            <a:avLst/>
          </a:prstGeom>
          <a:noFill/>
          <a:ln w="25400">
            <a:solidFill>
              <a:srgbClr val="E7ECF2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6583680" y="1408176"/>
            <a:ext cx="4736592" cy="2944368"/>
          </a:xfrm>
          <a:prstGeom prst="roundRect">
            <a:avLst>
              <a:gd name="adj" fmla="val 4969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76288" y="168249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6A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MULTI-LEVEL IMPACT OUTPUT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876288" y="20116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run → one view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876288" y="2542032"/>
            <a:ext cx="4041648" cy="475488"/>
          </a:xfrm>
          <a:prstGeom prst="roundRect">
            <a:avLst>
              <a:gd name="adj" fmla="val 30769"/>
            </a:avLst>
          </a:prstGeom>
          <a:solidFill>
            <a:srgbClr val="F7F9FB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22592" y="2697480"/>
            <a:ext cx="109728" cy="109728"/>
          </a:xfrm>
          <a:prstGeom prst="ellipse">
            <a:avLst/>
          </a:prstGeom>
          <a:solidFill>
            <a:srgbClr val="006AC6"/>
          </a:solidFill>
          <a:ln w="12700">
            <a:solidFill>
              <a:srgbClr val="006AC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42048" y="2587752"/>
            <a:ext cx="1572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 smtClean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Book </a:t>
            </a:r>
            <a:r>
              <a:rPr lang="en-US" sz="95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level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851392" y="2587752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8738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+ </a:t>
            </a:r>
            <a:r>
              <a:rPr lang="en-US" sz="950" dirty="0" smtClean="0">
                <a:solidFill>
                  <a:srgbClr val="68738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876288" y="3108960"/>
            <a:ext cx="4041648" cy="475488"/>
          </a:xfrm>
          <a:prstGeom prst="roundRect">
            <a:avLst>
              <a:gd name="adj" fmla="val 30769"/>
            </a:avLst>
          </a:prstGeom>
          <a:solidFill>
            <a:srgbClr val="F7F9FB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22592" y="3264408"/>
            <a:ext cx="109728" cy="109728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42048" y="3154680"/>
            <a:ext cx="1572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Upper level 1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851392" y="3154680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zh-CN" sz="950" dirty="0">
                <a:solidFill>
                  <a:srgbClr val="68738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+ scenario</a:t>
            </a:r>
            <a:endParaRPr lang="en-US" altLang="zh-CN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876288" y="3675888"/>
            <a:ext cx="4041648" cy="475488"/>
          </a:xfrm>
          <a:prstGeom prst="roundRect">
            <a:avLst>
              <a:gd name="adj" fmla="val 30769"/>
            </a:avLst>
          </a:prstGeom>
          <a:solidFill>
            <a:srgbClr val="F7F9FB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22592" y="3831336"/>
            <a:ext cx="109728" cy="109728"/>
          </a:xfrm>
          <a:prstGeom prst="ellipse">
            <a:avLst/>
          </a:prstGeom>
          <a:solidFill>
            <a:srgbClr val="E83E5A"/>
          </a:solidFill>
          <a:ln w="12700">
            <a:solidFill>
              <a:srgbClr val="E83E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42048" y="3721608"/>
            <a:ext cx="1572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Upper level 2+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851392" y="3721608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zh-CN" sz="950" dirty="0">
                <a:solidFill>
                  <a:srgbClr val="68738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+ scenario</a:t>
            </a:r>
            <a:endParaRPr lang="en-US" altLang="zh-CN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942832" y="4352544"/>
            <a:ext cx="0" cy="384048"/>
          </a:xfrm>
          <a:prstGeom prst="line">
            <a:avLst/>
          </a:prstGeom>
          <a:noFill/>
          <a:ln w="25400">
            <a:solidFill>
              <a:srgbClr val="E7ECF2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6583680" y="4736592"/>
            <a:ext cx="4736592" cy="950976"/>
          </a:xfrm>
          <a:prstGeom prst="roundRect">
            <a:avLst>
              <a:gd name="adj" fmla="val 15385"/>
            </a:avLst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76288" y="498348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LMR validation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229600" y="496519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 evidence → faster explanation → easier handoff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66928" y="5029200"/>
            <a:ext cx="1965960" cy="310896"/>
          </a:xfrm>
          <a:prstGeom prst="roundRect">
            <a:avLst>
              <a:gd name="adj" fmla="val 47059"/>
            </a:avLst>
          </a:prstGeom>
          <a:solidFill>
            <a:srgbClr val="E9F4FC"/>
          </a:solidFill>
          <a:ln w="12700">
            <a:solidFill>
              <a:srgbClr val="E9F4FC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5038344"/>
            <a:ext cx="181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6A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 1 hr typical prep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2688336" y="5029200"/>
            <a:ext cx="2148840" cy="310896"/>
          </a:xfrm>
          <a:prstGeom prst="roundRect">
            <a:avLst>
              <a:gd name="adj" fmla="val 47059"/>
            </a:avLst>
          </a:prstGeom>
          <a:solidFill>
            <a:srgbClr val="EAF8F2"/>
          </a:solidFill>
          <a:ln w="12700">
            <a:solidFill>
              <a:srgbClr val="EAF8F2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61488" y="5038344"/>
            <a:ext cx="2002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9F6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Multi-level in one run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5001768" y="5029200"/>
            <a:ext cx="1691640" cy="310896"/>
          </a:xfrm>
          <a:prstGeom prst="roundRect">
            <a:avLst>
              <a:gd name="adj" fmla="val 47059"/>
            </a:avLst>
          </a:prstGeom>
          <a:solidFill>
            <a:srgbClr val="FFF0F3"/>
          </a:solidFill>
          <a:ln w="12700">
            <a:solidFill>
              <a:srgbClr val="FFF0F3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74920" y="5038344"/>
            <a:ext cx="15453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3E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Flexible inputs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66928" y="5742432"/>
            <a:ext cx="10835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tool is not replacing judgment — it removes the repetitive work so the team can focus on validating the impact.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54" name="Shape 7"/>
          <p:cNvSpPr/>
          <p:nvPr/>
        </p:nvSpPr>
        <p:spPr>
          <a:xfrm>
            <a:off x="3246120" y="1339594"/>
            <a:ext cx="0" cy="809246"/>
          </a:xfrm>
          <a:prstGeom prst="line">
            <a:avLst/>
          </a:prstGeom>
          <a:noFill/>
          <a:ln w="25400">
            <a:solidFill>
              <a:srgbClr val="E7ECF2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389</Words>
  <Application>Microsoft Office PowerPoint</Application>
  <PresentationFormat>Widescreen</PresentationFormat>
  <Paragraphs>90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等线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RBC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Testing Lite Web Application</dc:title>
  <dc:subject>Impact Testing Lite Web Application</dc:subject>
  <dc:creator>OpenAI</dc:creator>
  <cp:lastModifiedBy>Alex</cp:lastModifiedBy>
  <cp:revision>3</cp:revision>
  <dcterms:created xsi:type="dcterms:W3CDTF">2026-08-16T19:02:29Z</dcterms:created>
  <dcterms:modified xsi:type="dcterms:W3CDTF">2026-08-16T19:15:35Z</dcterms:modified>
</cp:coreProperties>
</file>